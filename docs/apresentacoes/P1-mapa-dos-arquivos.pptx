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a65a1c8fa6b4f04" /><Relationship Type="http://schemas.openxmlformats.org/officeDocument/2006/relationships/extended-properties" Target="/docProps/app.xml" Id="R97ea2cae46114f64" /><Relationship Type="http://schemas.openxmlformats.org/officeDocument/2006/relationships/officeDocument" Target="/ppt/presentation.xml" Id="R3e9f152a94b64e3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4030047fd77433d"/>
  </p:sldMasterIdLst>
  <p:notesMasterIdLst>
    <p:notesMasterId xmlns:r="http://schemas.openxmlformats.org/officeDocument/2006/relationships" r:id="R4edb3bfd62b747e6"/>
  </p:notesMasterIdLst>
  <p:sldIdLst>
    <p:sldId xmlns:r="http://schemas.openxmlformats.org/officeDocument/2006/relationships" id="256" r:id="R50883472cca84ec4"/>
    <p:sldId xmlns:r="http://schemas.openxmlformats.org/officeDocument/2006/relationships" id="257" r:id="R5e05ab92282c4973"/>
    <p:sldId xmlns:r="http://schemas.openxmlformats.org/officeDocument/2006/relationships" id="258" r:id="Rccdf6e7da939495d"/>
    <p:sldId xmlns:r="http://schemas.openxmlformats.org/officeDocument/2006/relationships" id="259" r:id="R1e06cd6db38c4f8a"/>
    <p:sldId xmlns:r="http://schemas.openxmlformats.org/officeDocument/2006/relationships" id="260" r:id="Rd4f20342f660498a"/>
    <p:sldId xmlns:r="http://schemas.openxmlformats.org/officeDocument/2006/relationships" id="261" r:id="R235272b882204fe8"/>
    <p:sldId xmlns:r="http://schemas.openxmlformats.org/officeDocument/2006/relationships" id="262" r:id="Rc4c1ce78a42d48e7"/>
    <p:sldId xmlns:r="http://schemas.openxmlformats.org/officeDocument/2006/relationships" id="263" r:id="R8cd746f3aa6c43d8"/>
    <p:sldId xmlns:r="http://schemas.openxmlformats.org/officeDocument/2006/relationships" id="264" r:id="R2814ec8bf4464c06"/>
    <p:sldId xmlns:r="http://schemas.openxmlformats.org/officeDocument/2006/relationships" id="265" r:id="Rc62784b10cd84268"/>
    <p:sldId xmlns:r="http://schemas.openxmlformats.org/officeDocument/2006/relationships" id="266" r:id="Re88b7b9f913d424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5caea80c2a041f4" /><Relationship Type="http://schemas.openxmlformats.org/officeDocument/2006/relationships/slideMaster" Target="/ppt/slideMasters/slideMaster1.xml" Id="R04030047fd77433d" /><Relationship Type="http://schemas.openxmlformats.org/officeDocument/2006/relationships/notesMaster" Target="/ppt/notesMasters/notesMaster1.xml" Id="R4edb3bfd62b747e6" /><Relationship Type="http://schemas.openxmlformats.org/officeDocument/2006/relationships/presProps" Target="/ppt/presProps.xml" Id="R6b234655ce5a4003" /><Relationship Type="http://schemas.openxmlformats.org/officeDocument/2006/relationships/tableStyles" Target="/ppt/tableStyles.xml" Id="Rf8c0310e145b422c" /><Relationship Type="http://schemas.openxmlformats.org/officeDocument/2006/relationships/slide" Target="/ppt/slides/slide1.xml" Id="R50883472cca84ec4" /><Relationship Type="http://schemas.openxmlformats.org/officeDocument/2006/relationships/slide" Target="/ppt/slides/slide2.xml" Id="R5e05ab92282c4973" /><Relationship Type="http://schemas.openxmlformats.org/officeDocument/2006/relationships/slide" Target="/ppt/slides/slide3.xml" Id="Rccdf6e7da939495d" /><Relationship Type="http://schemas.openxmlformats.org/officeDocument/2006/relationships/slide" Target="/ppt/slides/slide4.xml" Id="R1e06cd6db38c4f8a" /><Relationship Type="http://schemas.openxmlformats.org/officeDocument/2006/relationships/slide" Target="/ppt/slides/slide5.xml" Id="Rd4f20342f660498a" /><Relationship Type="http://schemas.openxmlformats.org/officeDocument/2006/relationships/slide" Target="/ppt/slides/slide6.xml" Id="R235272b882204fe8" /><Relationship Type="http://schemas.openxmlformats.org/officeDocument/2006/relationships/slide" Target="/ppt/slides/slide7.xml" Id="Rc4c1ce78a42d48e7" /><Relationship Type="http://schemas.openxmlformats.org/officeDocument/2006/relationships/slide" Target="/ppt/slides/slide8.xml" Id="R8cd746f3aa6c43d8" /><Relationship Type="http://schemas.openxmlformats.org/officeDocument/2006/relationships/slide" Target="/ppt/slides/slide9.xml" Id="R2814ec8bf4464c06" /><Relationship Type="http://schemas.openxmlformats.org/officeDocument/2006/relationships/slide" Target="/ppt/slides/slide10.xml" Id="Rc62784b10cd84268" /><Relationship Type="http://schemas.openxmlformats.org/officeDocument/2006/relationships/slide" Target="/ppt/slides/slide11.xml" Id="Re88b7b9f913d424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fcf35017674471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b29ce0614d04f79" /><Relationship Type="http://schemas.openxmlformats.org/officeDocument/2006/relationships/notesMaster" Target="/ppt/notesMasters/notesMaster1.xml" Id="R05865e1e1b2d41f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d53ff1b524c4edf" /><Relationship Type="http://schemas.openxmlformats.org/officeDocument/2006/relationships/notesMaster" Target="/ppt/notesMasters/notesMaster1.xml" Id="R96de7d2467ce4bc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d3df3c4571f4d4a" /><Relationship Type="http://schemas.openxmlformats.org/officeDocument/2006/relationships/notesMaster" Target="/ppt/notesMasters/notesMaster1.xml" Id="Rfe0682c2910646d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1ba296ffb984d7f" /><Relationship Type="http://schemas.openxmlformats.org/officeDocument/2006/relationships/notesMaster" Target="/ppt/notesMasters/notesMaster1.xml" Id="Rbfd581adbdd1403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30fd3e0f11f47f9" /><Relationship Type="http://schemas.openxmlformats.org/officeDocument/2006/relationships/notesMaster" Target="/ppt/notesMasters/notesMaster1.xml" Id="R2eafcbb6765e4ba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debaff2f8864dee" /><Relationship Type="http://schemas.openxmlformats.org/officeDocument/2006/relationships/notesMaster" Target="/ppt/notesMasters/notesMaster1.xml" Id="R816daa7a6e1645e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a12026c49e14381" /><Relationship Type="http://schemas.openxmlformats.org/officeDocument/2006/relationships/notesMaster" Target="/ppt/notesMasters/notesMaster1.xml" Id="Re419c0170cf54b3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1c29f820b79480b" /><Relationship Type="http://schemas.openxmlformats.org/officeDocument/2006/relationships/notesMaster" Target="/ppt/notesMasters/notesMaster1.xml" Id="R1d9b59356b4c4d6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a5636e1870d429f" /><Relationship Type="http://schemas.openxmlformats.org/officeDocument/2006/relationships/notesMaster" Target="/ppt/notesMasters/notesMaster1.xml" Id="R606438c14f46449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e43d62ccbde419f" /><Relationship Type="http://schemas.openxmlformats.org/officeDocument/2006/relationships/notesMaster" Target="/ppt/notesMasters/notesMaster1.xml" Id="Rd2eea3e557ec4dc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59a556f69614f6c" /><Relationship Type="http://schemas.openxmlformats.org/officeDocument/2006/relationships/notesMaster" Target="/ppt/notesMasters/notesMaster1.xml" Id="R6379237bdc3545d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Apresentação para explicar a organização do projeto e a função dos arquivos. Os dados de vendas são sintéticos. O foco é a infraestrutura da P1, separada do painel Shiny.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locais do projeto: infraestrutura/README.md.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Host significa o computador que executa as ferramentas. No teste em outro PC, o host usa Ubuntu diretamente. O QEMU cria uma VM Ubuntu separada. SSH permite executar comandos nela. SCP copia arquivos. A porta local 2222 encaminha o SSH para a porta 22 da VM.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locais do projeto: infraestrutura/vm.sh, infraestrutura/p1.sh.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Os caminhos mostrados são relativos à pasta clonada do projeto. A área opcional guarda configurações anteriores e não participa da demonstração da P1. O painel Shiny permanece separado.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locais do projeto: infraestrutura/README.md, 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preparar-host.sh instala dependências no host e o OpenTofu. O p1.sh recebe a opção digitada e chama os arquivos seguintes. Python participa da administração, enquanto R gera os dados. Antes de clonar no Ubuntu, Git deve estar instalado.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locais do projeto: infraestrutura/preparar-host.sh, infraestrutura/p1.sh.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main.tf usa terraform_data e local-exec para chamar vm.sh. O script cria o disco e inicia o QEMU. cloud-init configura o primeiro boot a partir de uma imagem seed. A VM usa 2 CPUs virtuais e 1536 MiB. O script usa KVM quando disponível, ou TCG. Não há provedor nativo de QEMU acompanhando continuamente o processo.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locais do projeto: infraestrutura/main.tf, infraestrutura/vm.sh, infraestrutura/cloud-init.yaml.tftpl.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playbook instala r-base-core e python3 e cria /opt/pi-track-field, R, simulador e dados. p1.sh gera o inventário, executa o Ansible por SSH e usa SCP na opção transferir. SSH é a conexão. O texto pi@pi-track-field:~$ é o prompt do terminal remoto.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locais do projeto: infraestrutura/ansible/playbook.yml, infraestrutura/p1.sh.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função gerar_vendas em R/dados.R cria as vendas simuladas. gerar_dados.R importa essa função e salva vendas.csv e metadados.txt em nova pasta. validar.R exige pelo menos dois CSVs, verifica campos, mínimo de dez registros por arquivo, datas e valores, e unicidade do identificador composto. O padrão do comando simular é 1000 registros.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locais do projeto: R/dados.R, simulador/gerar_dados.R, simulador/validar.R.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disco e as chaves ficam no host, em ~/.local/share/pi-track-field-p1. A pasta dados fica dentro do sistema de arquivos da VM. baixar copia essa pasta para uma nova pasta dados-DATA-ID em infraestrutura/evidencias. Os caminhos exec-... e dados-... são padrões de nomes gerados, não nomes literais para digitar.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locais do projeto: infraestrutura/p1.sh, infraestrutura/vm.sh, simulador/gerar_dados.R.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ordem é criar, configurar, transferir e simular. Em seguida, p1.sh registra os hashes dos CSVs, simula novamente e confere os hashes anteriores, chama validar e reaplica configurar. O comando exige changed=0, unreachable=0 e failed=0 na segunda aplicação. demonstrar grava um log e deixa a VM ligada. baixar e parar são comandos separados.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locais do projeto: infraestrutura/p1.sh.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Executar no terminal do Ubuntu host e dentro da raiz do projeto. A sequência manual equivalente gera dois lotes antes de validar. p1.sh ssh abre uma sessão na VM. Digitar exit para retornar ao host. Se a VM já existir, OpenTofu poderá mostrar No changes. demonstrar não executa baixar nem parar.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locais do projeto: infraestrutura/p1.sh.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 página serve como índice durante a apresentação. Os três arquivos da linha Criação e primeiro início ficam na pasta infraestrutura/. O playbook fica em infraestrutura/ansible/. Os scripts de geração e validação ficam em simulador/. dados.R fica em R/.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locais do projeto: infraestrutura/README.md, docs/apresentacao-p1.md.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f6062a8fc2494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cefd50c60104257" /><Relationship Type="http://schemas.openxmlformats.org/officeDocument/2006/relationships/slideLayout" Target="/ppt/slideLayouts/slideLayout1.xml" Id="Rfd286263a67044f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d286263a67044f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cb433d87b74ac6" /><Relationship Type="http://schemas.openxmlformats.org/officeDocument/2006/relationships/notesSlide" Target="/ppt/notesSlides/notesSlide1.xml" Id="Rf00581b43ab34eb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ca43c70af643b6" /><Relationship Type="http://schemas.openxmlformats.org/officeDocument/2006/relationships/notesSlide" Target="/ppt/notesSlides/notesSlide2.xml" Id="R5098cbe541294c8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16f566cc7d4773" /><Relationship Type="http://schemas.openxmlformats.org/officeDocument/2006/relationships/notesSlide" Target="/ppt/notesSlides/notesSlide3.xml" Id="R5c7b64e5fe3049b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8367ec7d064a87" /><Relationship Type="http://schemas.openxmlformats.org/officeDocument/2006/relationships/notesSlide" Target="/ppt/notesSlides/notesSlide4.xml" Id="Rb1b37806057b4f7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c7864a2a5a4e31" /><Relationship Type="http://schemas.openxmlformats.org/officeDocument/2006/relationships/notesSlide" Target="/ppt/notesSlides/notesSlide5.xml" Id="R86448d733a99444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bf3b4d765a4abf" /><Relationship Type="http://schemas.openxmlformats.org/officeDocument/2006/relationships/notesSlide" Target="/ppt/notesSlides/notesSlide6.xml" Id="Rac1e7e3db8ee438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ed0b80d0674217" /><Relationship Type="http://schemas.openxmlformats.org/officeDocument/2006/relationships/notesSlide" Target="/ppt/notesSlides/notesSlide7.xml" Id="R7cf12a4807f74eb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ca73dcf08d4440" /><Relationship Type="http://schemas.openxmlformats.org/officeDocument/2006/relationships/notesSlide" Target="/ppt/notesSlides/notesSlide8.xml" Id="R8bde7c286210409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247272a2a54090" /><Relationship Type="http://schemas.openxmlformats.org/officeDocument/2006/relationships/notesSlide" Target="/ppt/notesSlides/notesSlide9.xml" Id="R2581d1e8268d4b8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ca254784534fb1" /><Relationship Type="http://schemas.openxmlformats.org/officeDocument/2006/relationships/notesSlide" Target="/ppt/notesSlides/notesSlide10.xml" Id="R07cc54c374874ed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484a80484648e6" /><Relationship Type="http://schemas.openxmlformats.org/officeDocument/2006/relationships/notesSlide" Target="/ppt/notesSlides/notesSlide11.xml" Id="Re52ac3a4b79f441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32E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6B5437-43C0-40AE-AEF0-AF5B2A2BE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P1: onde fica cada coisa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1A08E6-B4D0-43A3-94AC-A376E9556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055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FD4D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FD4D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CFE6B0-0D06-41F0-8356-2AADFFABB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10382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Arquivos, máquina virtual e dados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B9365E-7601-4B5F-8734-EEF1DE69F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B8DAD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8DADB"/>
                </a:solidFill>
                <a:latin typeface="Arial"/>
                <a:ea typeface="Arial"/>
                <a:cs typeface="Arial"/>
              </a:rPr>
              <a:t>PI Data Science / Track &amp; Field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A9981B-CE40-4377-874A-8F2C01E0F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673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B8DAD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8DADB"/>
                </a:solidFill>
                <a:latin typeface="Arial"/>
                <a:ea typeface="Arial"/>
                <a:cs typeface="Arial"/>
              </a:rPr>
              <a:t>O caminho do comando até o arquivo CSV</a:t>
            </a:r>
          </a:p>
        </p:txBody>
      </p:sp>
    </p:spTree>
    <p:extLst>
      <p:ext uri="{BB962C8B-B14F-4D97-AF65-F5344CB8AC3E}">
        <p14:creationId xmlns:p14="http://schemas.microsoft.com/office/powerpoint/2010/main" val="11206725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DD3612-5839-4E20-AEC6-96A456F29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9374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93747"/>
                </a:solidFill>
                <a:latin typeface="Arial"/>
                <a:ea typeface="Arial"/>
                <a:cs typeface="Arial"/>
              </a:rPr>
              <a:t>O computador e a VM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A0AB64-8749-437D-8F03-DCF6BB32C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055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87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87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2AB5B9-4CF1-487A-BE95-ED03F6EE9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5000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7D7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D7C"/>
                </a:solidFill>
                <a:latin typeface="Arial"/>
                <a:ea typeface="Arial"/>
                <a:cs typeface="Arial"/>
              </a:rPr>
              <a:t>SEU COMPUTADOR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B7B136-0AAC-4EF0-8751-0889A7DE6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5000625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93747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93747"/>
                </a:solidFill>
                <a:latin typeface="Arial"/>
                <a:ea typeface="Arial"/>
                <a:cs typeface="Arial"/>
              </a:rPr>
              <a:t>Ubuntu instalado no PC</a:t>
            </a:r>
          </a:p>
          <a:p xmlns:a="http://schemas.openxmlformats.org/drawingml/2006/main">
            <a:pPr>
              <a:defRPr sz="2325" b="0">
                <a:solidFill>
                  <a:srgbClr val="193747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93747"/>
                </a:solidFill>
                <a:latin typeface="Arial"/>
                <a:ea typeface="Arial"/>
                <a:cs typeface="Arial"/>
              </a:rPr>
              <a:t>Pasta clonada do GitHub</a:t>
            </a:r>
          </a:p>
          <a:p xmlns:a="http://schemas.openxmlformats.org/drawingml/2006/main">
            <a:pPr>
              <a:defRPr sz="2325" b="0">
                <a:solidFill>
                  <a:srgbClr val="193747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93747"/>
                </a:solidFill>
                <a:latin typeface="Arial"/>
                <a:ea typeface="Arial"/>
                <a:cs typeface="Arial"/>
              </a:rPr>
              <a:t>OpenTofu, QEMU e Ansible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A6950A-4AD9-49B5-9223-D6D719425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714500"/>
            <a:ext cx="5000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7D7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D7C"/>
                </a:solidFill>
                <a:latin typeface="Arial"/>
                <a:ea typeface="Arial"/>
                <a:cs typeface="Arial"/>
              </a:rPr>
              <a:t>DENTRO DA VM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A75E9D-4A03-49AB-8929-B460C6437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400300"/>
            <a:ext cx="5000625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93747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93747"/>
                </a:solidFill>
                <a:latin typeface="Arial"/>
                <a:ea typeface="Arial"/>
                <a:cs typeface="Arial"/>
              </a:rPr>
              <a:t>Outro Ubuntu</a:t>
            </a:r>
          </a:p>
          <a:p xmlns:a="http://schemas.openxmlformats.org/drawingml/2006/main">
            <a:pPr>
              <a:defRPr sz="2325" b="0">
                <a:solidFill>
                  <a:srgbClr val="193747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93747"/>
                </a:solidFill>
                <a:latin typeface="Arial"/>
                <a:ea typeface="Arial"/>
                <a:cs typeface="Arial"/>
              </a:rPr>
              <a:t>Usuário pi</a:t>
            </a:r>
          </a:p>
          <a:p xmlns:a="http://schemas.openxmlformats.org/drawingml/2006/main">
            <a:pPr>
              <a:defRPr sz="2325" b="0">
                <a:solidFill>
                  <a:srgbClr val="193747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93747"/>
                </a:solidFill>
                <a:latin typeface="Arial"/>
                <a:ea typeface="Arial"/>
                <a:cs typeface="Arial"/>
              </a:rPr>
              <a:t>R, simulador e arquivos CSV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538F1B-DEEB-4B34-8C52-7FBFEAE64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D7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D7C"/>
                </a:solidFill>
                <a:latin typeface="Arial"/>
                <a:ea typeface="Arial"/>
                <a:cs typeface="Arial"/>
              </a:rPr>
              <a:t>SSH executa comandos na VM. SCP transfere arquivos.</a:t>
            </a:r>
          </a:p>
        </p:txBody>
      </p:sp>
    </p:spTree>
    <p:extLst>
      <p:ext uri="{BB962C8B-B14F-4D97-AF65-F5344CB8AC3E}">
        <p14:creationId xmlns:p14="http://schemas.microsoft.com/office/powerpoint/2010/main" val="19692992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F4042A-3736-4A66-AFAD-0FB8DE07A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9374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93747"/>
                </a:solidFill>
                <a:latin typeface="Arial"/>
                <a:ea typeface="Arial"/>
                <a:cs typeface="Arial"/>
              </a:rPr>
              <a:t>Mapa das pastas do projeto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BD7E53-06FE-44EA-A12C-1AFC5A2E8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055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87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87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0F1E79-5E63-4666-AFBC-C35AE30A2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D7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D7C"/>
                </a:solidFill>
                <a:latin typeface="Arial"/>
                <a:ea typeface="Arial"/>
                <a:cs typeface="Arial"/>
              </a:rPr>
              <a:t>infraestrutura/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3D028B-4F2A-42FF-B00F-90ABF0015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9374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3747"/>
                </a:solidFill>
                <a:latin typeface="Arial"/>
                <a:ea typeface="Arial"/>
                <a:cs typeface="Arial"/>
              </a:rPr>
              <a:t>Prepara o computador, cria a VM e coordena a demonstração.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49DA64-6226-465B-8414-2A90032C0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D7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D7C"/>
                </a:solidFill>
                <a:latin typeface="Arial"/>
                <a:ea typeface="Arial"/>
                <a:cs typeface="Arial"/>
              </a:rPr>
              <a:t>simulador/   e   R/dados.R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CC59C4-047D-42F2-8836-E5C699F14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9374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3747"/>
                </a:solidFill>
                <a:latin typeface="Arial"/>
                <a:ea typeface="Arial"/>
                <a:cs typeface="Arial"/>
              </a:rPr>
              <a:t>Geram os dados e verificam os arquivos CSV.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7B6B0F-EC97-48E1-8159-4C81B2EC9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D7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D7C"/>
                </a:solidFill>
                <a:latin typeface="Arial"/>
                <a:ea typeface="Arial"/>
                <a:cs typeface="Arial"/>
              </a:rPr>
              <a:t>docs/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2B9C51-CB08-498D-BEE6-98C27503B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9374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3747"/>
                </a:solidFill>
                <a:latin typeface="Arial"/>
                <a:ea typeface="Arial"/>
                <a:cs typeface="Arial"/>
              </a:rPr>
              <a:t>Guarda o roteiro de apresentação e o relatório de validação.</a:t>
            </a:r>
          </a:p>
        </p:txBody>
      </p:sp>
    </p:spTree>
    <p:extLst>
      <p:ext uri="{BB962C8B-B14F-4D97-AF65-F5344CB8AC3E}">
        <p14:creationId xmlns:p14="http://schemas.microsoft.com/office/powerpoint/2010/main" val="223210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66E9AA-E4D5-470D-8DA0-94481F5EE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9374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93747"/>
                </a:solidFill>
                <a:latin typeface="Arial"/>
                <a:ea typeface="Arial"/>
                <a:cs typeface="Arial"/>
              </a:rPr>
              <a:t>Preparação e comando principal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5CE47B-DEBB-4F1A-B59C-58AD3F4FE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055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87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87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4E4A1F-EBD5-49C8-A18F-8EE747677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4782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D7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D7C"/>
                </a:solidFill>
                <a:latin typeface="Arial"/>
                <a:ea typeface="Arial"/>
                <a:cs typeface="Arial"/>
              </a:rPr>
              <a:t>infraestrutura/preparar-host.sh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DEFD85-C282-4AE9-A3F3-C4B62693D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05025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9374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3747"/>
                </a:solidFill>
                <a:latin typeface="Arial"/>
                <a:ea typeface="Arial"/>
                <a:cs typeface="Arial"/>
              </a:rPr>
              <a:t>Instala as ferramentas no seu computador. Uso inicial.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5F63DC-56C7-4545-A9E4-A452DF715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D7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D7C"/>
                </a:solidFill>
                <a:latin typeface="Arial"/>
                <a:ea typeface="Arial"/>
                <a:cs typeface="Arial"/>
              </a:rPr>
              <a:t>infraestrutura/p1.sh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1F9492-BA72-4414-9396-E6B00331A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52825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9374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3747"/>
                </a:solidFill>
                <a:latin typeface="Arial"/>
                <a:ea typeface="Arial"/>
                <a:cs typeface="Arial"/>
              </a:rPr>
              <a:t>Recebe a ação e organiza a execução dos outros arquivos.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AAC5C5-C1FC-441D-B6F8-62FB29735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38725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7D7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7D7C"/>
                </a:solidFill>
                <a:latin typeface="Arial"/>
                <a:ea typeface="Arial"/>
                <a:cs typeface="Arial"/>
              </a:rPr>
              <a:t>bash infraestrutura/p1.sh demonstrar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25CC32-12FE-4D83-B2A5-70E84D4D3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9374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3747"/>
                </a:solidFill>
                <a:latin typeface="Arial"/>
                <a:ea typeface="Arial"/>
                <a:cs typeface="Arial"/>
              </a:rPr>
              <a:t>Um comando para executar a demonstração completa.</a:t>
            </a:r>
          </a:p>
        </p:txBody>
      </p:sp>
    </p:spTree>
    <p:extLst>
      <p:ext uri="{BB962C8B-B14F-4D97-AF65-F5344CB8AC3E}">
        <p14:creationId xmlns:p14="http://schemas.microsoft.com/office/powerpoint/2010/main" val="10501157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17B97A-1B01-48E5-B31C-895DDBB1C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9374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93747"/>
                </a:solidFill>
                <a:latin typeface="Arial"/>
                <a:ea typeface="Arial"/>
                <a:cs typeface="Arial"/>
              </a:rPr>
              <a:t>Arquivos que criam a VM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9A0701-BE7C-4FC1-95FA-54194C99A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055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87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87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2DDE6F-38FD-4A25-A7F5-A9D377FFC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525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D7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D7C"/>
                </a:solidFill>
                <a:latin typeface="Arial"/>
                <a:ea typeface="Arial"/>
                <a:cs typeface="Arial"/>
              </a:rPr>
              <a:t>infraestrutura/main.tf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DAB367-53BC-446C-8F2B-B55EAB61D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9775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9374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3747"/>
                </a:solidFill>
                <a:latin typeface="Arial"/>
                <a:ea typeface="Arial"/>
                <a:cs typeface="Arial"/>
              </a:rPr>
              <a:t>O OpenTofu lê a definição e chama vm.sh.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440CE9-68FC-417A-8097-958889BEF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D7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D7C"/>
                </a:solidFill>
                <a:latin typeface="Arial"/>
                <a:ea typeface="Arial"/>
                <a:cs typeface="Arial"/>
              </a:rPr>
              <a:t>infraestrutura/vm.sh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14D390-0571-40FF-B2B2-9B4EA2518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9374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3747"/>
                </a:solidFill>
                <a:latin typeface="Arial"/>
                <a:ea typeface="Arial"/>
                <a:cs typeface="Arial"/>
              </a:rPr>
              <a:t>Cria o disco e usa QEMU para ligar ou desligar a VM.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A39743-0559-4C65-9D6B-6DBCB9BAD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D7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D7C"/>
                </a:solidFill>
                <a:latin typeface="Arial"/>
                <a:ea typeface="Arial"/>
                <a:cs typeface="Arial"/>
              </a:rPr>
              <a:t>infraestrutura/cloud-init.yaml.tftpl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CEAA4D-9D5F-4188-A417-09FDC0069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86325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9374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3747"/>
                </a:solidFill>
                <a:latin typeface="Arial"/>
                <a:ea typeface="Arial"/>
                <a:cs typeface="Arial"/>
              </a:rPr>
              <a:t>Prepara o usuário pi e a chave de acesso no primeiro início.</a:t>
            </a:r>
          </a:p>
        </p:txBody>
      </p:sp>
    </p:spTree>
    <p:extLst>
      <p:ext uri="{BB962C8B-B14F-4D97-AF65-F5344CB8AC3E}">
        <p14:creationId xmlns:p14="http://schemas.microsoft.com/office/powerpoint/2010/main" val="75526762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2C3DC0-4B56-4B69-8654-C7E001C8B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9374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93747"/>
                </a:solidFill>
                <a:latin typeface="Arial"/>
                <a:ea typeface="Arial"/>
                <a:cs typeface="Arial"/>
              </a:rPr>
              <a:t>Configuração e acesso por SSH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CBF054-EF79-4D4F-9A19-5C2BA96E5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055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87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875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B9E422-333B-4FC6-94F3-B8238B981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7D7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7D7C"/>
                </a:solidFill>
                <a:latin typeface="Arial"/>
                <a:ea typeface="Arial"/>
                <a:cs typeface="Arial"/>
              </a:rPr>
              <a:t>infraestrutura/ansible/playbook.yml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A9F452-E29B-4451-82F1-9C8602BF7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93747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93747"/>
                </a:solidFill>
                <a:latin typeface="Arial"/>
                <a:ea typeface="Arial"/>
                <a:cs typeface="Arial"/>
              </a:rPr>
              <a:t>Instala o R e cria as pastas dentro da VM.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FA85E5-6E46-45ED-9F64-E61B0FF54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24225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D7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D7C"/>
                </a:solidFill>
                <a:latin typeface="Arial"/>
                <a:ea typeface="Arial"/>
                <a:cs typeface="Arial"/>
              </a:rPr>
              <a:t>infraestrutura/p1.sh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17E8B2-FBD4-4A0A-838E-045F27CF8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52875"/>
            <a:ext cx="10477500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9374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3747"/>
                </a:solidFill>
                <a:latin typeface="Arial"/>
                <a:ea typeface="Arial"/>
                <a:cs typeface="Arial"/>
              </a:rPr>
              <a:t>configurar  executa o Ansible por SSH</a:t>
            </a:r>
          </a:p>
          <a:p xmlns:a="http://schemas.openxmlformats.org/drawingml/2006/main">
            <a:pPr>
              <a:defRPr sz="2175" b="0">
                <a:solidFill>
                  <a:srgbClr val="19374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3747"/>
                </a:solidFill>
                <a:latin typeface="Arial"/>
                <a:ea typeface="Arial"/>
                <a:cs typeface="Arial"/>
              </a:rPr>
              <a:t>transferir  copia os arquivos R por SCP</a:t>
            </a:r>
          </a:p>
          <a:p xmlns:a="http://schemas.openxmlformats.org/drawingml/2006/main">
            <a:pPr>
              <a:defRPr sz="2175" b="0">
                <a:solidFill>
                  <a:srgbClr val="19374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3747"/>
                </a:solidFill>
                <a:latin typeface="Arial"/>
                <a:ea typeface="Arial"/>
                <a:cs typeface="Arial"/>
              </a:rPr>
              <a:t>ssh  abre o terminal da VM</a:t>
            </a:r>
          </a:p>
        </p:txBody>
      </p:sp>
    </p:spTree>
    <p:extLst>
      <p:ext uri="{BB962C8B-B14F-4D97-AF65-F5344CB8AC3E}">
        <p14:creationId xmlns:p14="http://schemas.microsoft.com/office/powerpoint/2010/main" val="27140045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BC1C81-14A4-461C-8001-07FFC674D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9374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93747"/>
                </a:solidFill>
                <a:latin typeface="Arial"/>
                <a:ea typeface="Arial"/>
                <a:cs typeface="Arial"/>
              </a:rPr>
              <a:t>Arquivos que geram e validam dados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0748E7-0CDC-4DC8-8F41-ED3629587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055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87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875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565B92-6755-4F30-AABE-F5AC39EE7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525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D7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D7C"/>
                </a:solidFill>
                <a:latin typeface="Arial"/>
                <a:ea typeface="Arial"/>
                <a:cs typeface="Arial"/>
              </a:rPr>
              <a:t>R/dados.R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D90996-CA40-4AA0-9ACF-8264B59CF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9775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9374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3747"/>
                </a:solidFill>
                <a:latin typeface="Arial"/>
                <a:ea typeface="Arial"/>
                <a:cs typeface="Arial"/>
              </a:rPr>
              <a:t>Define as regras das vendas: produtos, preços e quantidades.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3FC470-AF4D-421C-B6C3-3CCF9003C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D7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D7C"/>
                </a:solidFill>
                <a:latin typeface="Arial"/>
                <a:ea typeface="Arial"/>
                <a:cs typeface="Arial"/>
              </a:rPr>
              <a:t>simulador/gerar_dados.R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B81844-1174-45B7-8DFA-004641A18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9374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3747"/>
                </a:solidFill>
                <a:latin typeface="Arial"/>
                <a:ea typeface="Arial"/>
                <a:cs typeface="Arial"/>
              </a:rPr>
              <a:t>Usa essas regras e salva um novo lote em CSV.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6D132C-A816-45D2-B7E6-A62EC6FAA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D7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D7C"/>
                </a:solidFill>
                <a:latin typeface="Arial"/>
                <a:ea typeface="Arial"/>
                <a:cs typeface="Arial"/>
              </a:rPr>
              <a:t>simulador/validar.R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E91E7E-A55E-4B9F-98DD-40B1709D4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86325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9374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3747"/>
                </a:solidFill>
                <a:latin typeface="Arial"/>
                <a:ea typeface="Arial"/>
                <a:cs typeface="Arial"/>
              </a:rPr>
              <a:t>Confere registros, colunas, datas, valores e identificadores.</a:t>
            </a:r>
          </a:p>
        </p:txBody>
      </p:sp>
    </p:spTree>
    <p:extLst>
      <p:ext uri="{BB962C8B-B14F-4D97-AF65-F5344CB8AC3E}">
        <p14:creationId xmlns:p14="http://schemas.microsoft.com/office/powerpoint/2010/main" val="184458768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664DD6-49D5-4E03-9052-C55B025A5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9374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93747"/>
                </a:solidFill>
                <a:latin typeface="Arial"/>
                <a:ea typeface="Arial"/>
                <a:cs typeface="Arial"/>
              </a:rPr>
              <a:t>Onde os arquivos ficam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0CB23F-6CD4-40CA-9692-4F7ADA999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055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87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875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B33A8A-E6ED-48EC-89BF-E644DC0D8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7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D7C"/>
                </a:solidFill>
                <a:latin typeface="Arial"/>
                <a:ea typeface="Arial"/>
                <a:cs typeface="Arial"/>
              </a:rPr>
              <a:t>NA VM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09D775-B117-4B1E-945F-ADEF6D091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9374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93747"/>
                </a:solidFill>
                <a:latin typeface="Arial"/>
                <a:ea typeface="Arial"/>
                <a:cs typeface="Arial"/>
              </a:rPr>
              <a:t>/opt/pi-track-field/dados/exec-.../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3C3D0E-69CF-4218-B488-45B5965FA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0325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9374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3747"/>
                </a:solidFill>
                <a:latin typeface="Arial"/>
                <a:ea typeface="Arial"/>
                <a:cs typeface="Arial"/>
              </a:rPr>
              <a:t>vendas.csv contém as vendas. metadados.txt registra o lote.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B7D892-F15B-4EAA-8FBF-9835F5ED7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9975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7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D7C"/>
                </a:solidFill>
                <a:latin typeface="Arial"/>
                <a:ea typeface="Arial"/>
                <a:cs typeface="Arial"/>
              </a:rPr>
              <a:t>NO COMPUTADOR, DEPOIS DE baixar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856B3C-D139-459D-93F9-6EAA47151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9374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93747"/>
                </a:solidFill>
                <a:latin typeface="Arial"/>
                <a:ea typeface="Arial"/>
                <a:cs typeface="Arial"/>
              </a:rPr>
              <a:t>infraestrutura/evidencias/dados-.../dados/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8B06D1-C083-4A1B-BB0F-7BA9A10C3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9374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3747"/>
                </a:solidFill>
                <a:latin typeface="Arial"/>
                <a:ea typeface="Arial"/>
                <a:cs typeface="Arial"/>
              </a:rPr>
              <a:t>A cópia fica na pasta do projeto. O original continua na VM.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62DF73-34D6-4AAB-B7B2-30073E191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43575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87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875"/>
                </a:solidFill>
                <a:latin typeface="Arial"/>
                <a:ea typeface="Arial"/>
                <a:cs typeface="Arial"/>
              </a:rPr>
              <a:t>Disco da VM no host: ~/.local/share/pi-track-field-p1/</a:t>
            </a:r>
          </a:p>
        </p:txBody>
      </p:sp>
    </p:spTree>
    <p:extLst>
      <p:ext uri="{BB962C8B-B14F-4D97-AF65-F5344CB8AC3E}">
        <p14:creationId xmlns:p14="http://schemas.microsoft.com/office/powerpoint/2010/main" val="177158352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EE1F33-D40D-4D6B-B5B1-C202F4E2A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9374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93747"/>
                </a:solidFill>
                <a:latin typeface="Arial"/>
                <a:ea typeface="Arial"/>
                <a:cs typeface="Arial"/>
              </a:rPr>
              <a:t>O que demonstrar executa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88905B-18E8-4624-995F-7C6C1E548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055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87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875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B3DAD2-0071-4851-A26B-200AFA91F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5286375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93747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93747"/>
                </a:solidFill>
                <a:latin typeface="Arial"/>
                <a:ea typeface="Arial"/>
                <a:cs typeface="Arial"/>
              </a:rPr>
              <a:t>01  Cria ou inicia a VM</a:t>
            </a:r>
          </a:p>
          <a:p xmlns:a="http://schemas.openxmlformats.org/drawingml/2006/main">
            <a:pPr>
              <a:defRPr sz="2325" b="0">
                <a:solidFill>
                  <a:srgbClr val="193747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93747"/>
                </a:solidFill>
                <a:latin typeface="Arial"/>
                <a:ea typeface="Arial"/>
                <a:cs typeface="Arial"/>
              </a:rPr>
              <a:t>02  Configura o ambiente</a:t>
            </a:r>
          </a:p>
          <a:p xmlns:a="http://schemas.openxmlformats.org/drawingml/2006/main">
            <a:pPr>
              <a:defRPr sz="2325" b="0">
                <a:solidFill>
                  <a:srgbClr val="193747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93747"/>
                </a:solidFill>
                <a:latin typeface="Arial"/>
                <a:ea typeface="Arial"/>
                <a:cs typeface="Arial"/>
              </a:rPr>
              <a:t>03  Transfere o código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787DA0-A2FA-483F-9452-A0C5727F2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33550"/>
            <a:ext cx="5095875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93747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93747"/>
                </a:solidFill>
                <a:latin typeface="Arial"/>
                <a:ea typeface="Arial"/>
                <a:cs typeface="Arial"/>
              </a:rPr>
              <a:t>04  Gera dois lotes</a:t>
            </a:r>
          </a:p>
          <a:p xmlns:a="http://schemas.openxmlformats.org/drawingml/2006/main">
            <a:pPr>
              <a:defRPr sz="2325" b="0">
                <a:solidFill>
                  <a:srgbClr val="193747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93747"/>
                </a:solidFill>
                <a:latin typeface="Arial"/>
                <a:ea typeface="Arial"/>
                <a:cs typeface="Arial"/>
              </a:rPr>
              <a:t>05  Valida e confere os arquivos</a:t>
            </a:r>
          </a:p>
          <a:p xmlns:a="http://schemas.openxmlformats.org/drawingml/2006/main">
            <a:pPr>
              <a:defRPr sz="2325" b="0">
                <a:solidFill>
                  <a:srgbClr val="193747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93747"/>
                </a:solidFill>
                <a:latin typeface="Arial"/>
                <a:ea typeface="Arial"/>
                <a:cs typeface="Arial"/>
              </a:rPr>
              <a:t>06  Repete o Ansible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9731B1-8691-41BC-9AF9-7DCE40F97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7D7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7D7C"/>
                </a:solidFill>
                <a:latin typeface="Arial"/>
                <a:ea typeface="Arial"/>
                <a:cs typeface="Arial"/>
              </a:rPr>
              <a:t>Por que duas vezes?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669DFB-25DE-4E02-B67D-4D6452DBC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107156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9374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93747"/>
                </a:solidFill>
                <a:latin typeface="Arial"/>
                <a:ea typeface="Arial"/>
                <a:cs typeface="Arial"/>
              </a:rPr>
              <a:t>Simulador: comprova a preservação dos arquivos.</a:t>
            </a:r>
          </a:p>
          <a:p xmlns:a="http://schemas.openxmlformats.org/drawingml/2006/main">
            <a:pPr>
              <a:defRPr sz="2100" b="0">
                <a:solidFill>
                  <a:srgbClr val="19374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93747"/>
                </a:solidFill>
                <a:latin typeface="Arial"/>
                <a:ea typeface="Arial"/>
                <a:cs typeface="Arial"/>
              </a:rPr>
              <a:t>Ansible: comprova a configuração repetível com changed=0.</a:t>
            </a:r>
          </a:p>
        </p:txBody>
      </p:sp>
    </p:spTree>
    <p:extLst>
      <p:ext uri="{BB962C8B-B14F-4D97-AF65-F5344CB8AC3E}">
        <p14:creationId xmlns:p14="http://schemas.microsoft.com/office/powerpoint/2010/main" val="73595913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B59099-E9AD-4703-87C7-F1E09A539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9374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93747"/>
                </a:solidFill>
                <a:latin typeface="Arial"/>
                <a:ea typeface="Arial"/>
                <a:cs typeface="Arial"/>
              </a:rPr>
              <a:t>Comandos para apresentar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C54A80-3555-4E7E-8E2E-AFB7A47E3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055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87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875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F0A190-13BC-43EF-B75D-0DB1AACF7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3687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36875"/>
                </a:solidFill>
                <a:latin typeface="Arial"/>
                <a:ea typeface="Arial"/>
                <a:cs typeface="Arial"/>
              </a:rPr>
              <a:t>No Ubuntu, dentro da pasta do projeto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B688B9-0E76-4E9C-9DBC-00CC832A5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7D7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7D7C"/>
                </a:solidFill>
                <a:latin typeface="Arial"/>
                <a:ea typeface="Arial"/>
                <a:cs typeface="Arial"/>
              </a:rPr>
              <a:t>bash infraestrutura/p1.sh demonstrar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55FD0E-0D5A-4F5C-8FE1-3FE1107A5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047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9374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3747"/>
                </a:solidFill>
                <a:latin typeface="Arial"/>
                <a:ea typeface="Arial"/>
                <a:cs typeface="Arial"/>
              </a:rPr>
              <a:t>Cria, configura, transfere, gera e valida.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71B27A-5AE9-4485-B5CE-572F1452A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52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7D7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7D7C"/>
                </a:solidFill>
                <a:latin typeface="Arial"/>
                <a:ea typeface="Arial"/>
                <a:cs typeface="Arial"/>
              </a:rPr>
              <a:t>bash infraestrutura/p1.sh baixar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E7FD77-B3F7-4049-A9A9-808261092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1047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9374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3747"/>
                </a:solidFill>
                <a:latin typeface="Arial"/>
                <a:ea typeface="Arial"/>
                <a:cs typeface="Arial"/>
              </a:rPr>
              <a:t>Copia os CSVs para a pasta de evidências.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E5F2DE-A14A-4720-A8A8-6DFD31ECF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7D7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7D7C"/>
                </a:solidFill>
                <a:latin typeface="Arial"/>
                <a:ea typeface="Arial"/>
                <a:cs typeface="Arial"/>
              </a:rPr>
              <a:t>bash infraestrutura/p1.sh parar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1D2ABD-EB78-4B6F-A24D-BF2705EB9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1047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9374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3747"/>
                </a:solidFill>
                <a:latin typeface="Arial"/>
                <a:ea typeface="Arial"/>
                <a:cs typeface="Arial"/>
              </a:rPr>
              <a:t>Desliga a VM e preserva os dados.</a:t>
            </a:r>
          </a:p>
        </p:txBody>
      </p:sp>
    </p:spTree>
    <p:extLst>
      <p:ext uri="{BB962C8B-B14F-4D97-AF65-F5344CB8AC3E}">
        <p14:creationId xmlns:p14="http://schemas.microsoft.com/office/powerpoint/2010/main" val="146483383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575A9C-2E49-4CC7-AED6-6818D962A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9374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93747"/>
                </a:solidFill>
                <a:latin typeface="Arial"/>
                <a:ea typeface="Arial"/>
                <a:cs typeface="Arial"/>
              </a:rPr>
              <a:t>Guia rápido para encontrar cada parte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312388-DE20-42A3-84F9-4AE3CFC22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055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87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875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958D9A-5BA0-4E35-A924-7E04C5747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37623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9374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93747"/>
                </a:solidFill>
                <a:latin typeface="Arial"/>
                <a:ea typeface="Arial"/>
                <a:cs typeface="Arial"/>
              </a:rPr>
              <a:t>Preparação do PC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11FF4C-4B28-4384-A8E1-CEC82D1E9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638300"/>
            <a:ext cx="695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7D7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7D7C"/>
                </a:solidFill>
                <a:latin typeface="Arial"/>
                <a:ea typeface="Arial"/>
                <a:cs typeface="Arial"/>
              </a:rPr>
              <a:t>infraestrutura/preparar-host.sh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23629C-935D-4634-A2FF-8AD7AD938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37623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9374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93747"/>
                </a:solidFill>
                <a:latin typeface="Arial"/>
                <a:ea typeface="Arial"/>
                <a:cs typeface="Arial"/>
              </a:rPr>
              <a:t>Controle do processo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E3BB04-2A5E-444E-852E-ABFA5D122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324100"/>
            <a:ext cx="695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7D7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7D7C"/>
                </a:solidFill>
                <a:latin typeface="Arial"/>
                <a:ea typeface="Arial"/>
                <a:cs typeface="Arial"/>
              </a:rPr>
              <a:t>infraestrutura/p1.sh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A379A8-78C3-421E-A527-2AA1568BB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37623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9374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93747"/>
                </a:solidFill>
                <a:latin typeface="Arial"/>
                <a:ea typeface="Arial"/>
                <a:cs typeface="Arial"/>
              </a:rPr>
              <a:t>Criação e primeiro início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F56897-C915-42B5-B469-47E4E39BC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009900"/>
            <a:ext cx="695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7D7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7D7C"/>
                </a:solidFill>
                <a:latin typeface="Arial"/>
                <a:ea typeface="Arial"/>
                <a:cs typeface="Arial"/>
              </a:rPr>
              <a:t>main.tf, vm.sh e cloud-init.yaml.tftpl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B94CE7-CB95-451C-AB3B-92709D7A4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37623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9374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93747"/>
                </a:solidFill>
                <a:latin typeface="Arial"/>
                <a:ea typeface="Arial"/>
                <a:cs typeface="Arial"/>
              </a:rPr>
              <a:t>Instalação dentro da VM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50B6AB-CB14-4518-95B2-C89F76484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695700"/>
            <a:ext cx="695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7D7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7D7C"/>
                </a:solidFill>
                <a:latin typeface="Arial"/>
                <a:ea typeface="Arial"/>
                <a:cs typeface="Arial"/>
              </a:rPr>
              <a:t>infraestrutura/ansible/playbook.yml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539FD9-BC45-4FCF-9C8D-A9B04C44B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37623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9374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93747"/>
                </a:solidFill>
                <a:latin typeface="Arial"/>
                <a:ea typeface="Arial"/>
                <a:cs typeface="Arial"/>
              </a:rPr>
              <a:t>Geração e conferência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C0F046-3097-44D8-A32E-1901B3FE3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381500"/>
            <a:ext cx="695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7D7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7D7C"/>
                </a:solidFill>
                <a:latin typeface="Arial"/>
                <a:ea typeface="Arial"/>
                <a:cs typeface="Arial"/>
              </a:rPr>
              <a:t>R/dados.R e os scripts de simulador/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0DC4C4-7AE2-43A7-A55A-7A882EBB7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37623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9374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93747"/>
                </a:solidFill>
                <a:latin typeface="Arial"/>
                <a:ea typeface="Arial"/>
                <a:cs typeface="Arial"/>
              </a:rPr>
              <a:t>Roteiro da apresentação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65DC88-5A31-4C39-8982-ACC7B04AE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067300"/>
            <a:ext cx="695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7D7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7D7C"/>
                </a:solidFill>
                <a:latin typeface="Arial"/>
                <a:ea typeface="Arial"/>
                <a:cs typeface="Arial"/>
              </a:rPr>
              <a:t>docs/apresentacao-p1.md</a:t>
            </a:r>
          </a:p>
        </p:txBody>
      </p:sp>
    </p:spTree>
    <p:extLst>
      <p:ext uri="{BB962C8B-B14F-4D97-AF65-F5344CB8AC3E}">
        <p14:creationId xmlns:p14="http://schemas.microsoft.com/office/powerpoint/2010/main" val="18559429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2026-09-28T16:59:55.4560000Z</dcterms:created>
  <dcterms:modified xsi:type="dcterms:W3CDTF">2026-09-28T16:59:55.4560000Z</dcterms:modified>
</coreProperties>
</file>